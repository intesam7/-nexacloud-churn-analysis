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5F"/>
                </a:solidFill>
                <a:latin typeface="Arial"/>
              </a:rPr>
              <a:t>Churn Rate by Customer Segment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Small Business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38.3</c:v>
                </c:pt>
                <c:pt idx="1">
                  <c:v>53.1</c:v>
                </c:pt>
                <c:pt idx="2">
                  <c:v>68.7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5F"/>
                </a:solidFill>
                <a:latin typeface="Arial"/>
              </a:rPr>
              <a:t>Churn Rate by Contract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Annual</c:v>
                  </c:pt>
                  <c:pt idx="1">
                    <c:v>Monthly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46.1</c:v>
                </c:pt>
                <c:pt idx="1">
                  <c:v>65.7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5F"/>
                </a:solidFill>
                <a:latin typeface="Arial"/>
              </a:rPr>
              <a:t>Churn Rate: Onboarding Completion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Completed</c:v>
                  </c:pt>
                  <c:pt idx="1">
                    <c:v>Not Completed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20.7</c:v>
                </c:pt>
                <c:pt idx="1">
                  <c:v>81.8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5F"/>
                </a:solidFill>
                <a:latin typeface="Arial"/>
              </a:rPr>
              <a:t>Churn Rate by Feature Adoption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76–100%</c:v>
                  </c:pt>
                  <c:pt idx="1">
                    <c:v>51–75%</c:v>
                  </c:pt>
                  <c:pt idx="2">
                    <c:v>31–50%</c:v>
                  </c:pt>
                  <c:pt idx="3">
                    <c:v>16–30%</c:v>
                  </c:pt>
                  <c:pt idx="4">
                    <c:v>0–15%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14.9</c:v>
                </c:pt>
                <c:pt idx="1">
                  <c:v>16.9</c:v>
                </c:pt>
                <c:pt idx="2">
                  <c:v>22.1</c:v>
                </c:pt>
                <c:pt idx="3">
                  <c:v>74.8</c:v>
                </c:pt>
                <c:pt idx="4">
                  <c:v>80.1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5F"/>
                </a:solidFill>
                <a:latin typeface="Arial"/>
              </a:rPr>
              <a:t>Feature Importance — Top Churn Predictors (XGBoost)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NPS Score</c:v>
                  </c:pt>
                  <c:pt idx="1">
                    <c:v>Support Tickets</c:v>
                  </c:pt>
                  <c:pt idx="2">
                    <c:v>Customer Segment</c:v>
                  </c:pt>
                  <c:pt idx="3">
                    <c:v>Contract Type</c:v>
                  </c:pt>
                  <c:pt idx="4">
                    <c:v>Activation Trifecta</c:v>
                  </c:pt>
                  <c:pt idx="5">
                    <c:v>CS Touchpoints</c:v>
                  </c:pt>
                  <c:pt idx="6">
                    <c:v>Days Since Login</c:v>
                  </c:pt>
                  <c:pt idx="7">
                    <c:v>Onboarding Completed</c:v>
                  </c:pt>
                  <c:pt idx="8">
                    <c:v>Feature Adoption Rate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0.063</c:v>
                </c:pt>
                <c:pt idx="1">
                  <c:v>0.014</c:v>
                </c:pt>
                <c:pt idx="2">
                  <c:v>0.011</c:v>
                </c:pt>
                <c:pt idx="3">
                  <c:v>0.058</c:v>
                </c:pt>
                <c:pt idx="4">
                  <c:v>0.094</c:v>
                </c:pt>
                <c:pt idx="5">
                  <c:v>0.118</c:v>
                </c:pt>
                <c:pt idx="6">
                  <c:v>0.143</c:v>
                </c:pt>
                <c:pt idx="7">
                  <c:v>0.156</c:v>
                </c:pt>
                <c:pt idx="8">
                  <c:v>0.187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5F"/>
                </a:solidFill>
                <a:latin typeface="Arial"/>
              </a:rPr>
              <a:t>Annual Revenue Impact by Scenario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MRR Lost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Scenario A
(Do Nothing)</c:v>
                  </c:pt>
                  <c:pt idx="1">
                    <c:v>Scenario B
(Partial)</c:v>
                  </c:pt>
                  <c:pt idx="2">
                    <c:v>Scenario C
(Full Fix)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12201600</c:v>
                </c:pt>
                <c:pt idx="1">
                  <c:v>7432680</c:v>
                </c:pt>
                <c:pt idx="2">
                  <c:v>6090096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MRR Saved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Scenario A
(Do Nothing)</c:v>
                  </c:pt>
                  <c:pt idx="1">
                    <c:v>Scenario B
(Partial)</c:v>
                  </c:pt>
                  <c:pt idx="2">
                    <c:v>Scenario C
(Full Fix)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4768920</c:v>
                </c:pt>
                <c:pt idx="2">
                  <c:v>6111504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5F"/>
                </a:solidFill>
                <a:latin typeface="Arial"/>
              </a:rPr>
              <a:t>Annual ROI by Solution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B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Solution 3
Onboarding</c:v>
                  </c:pt>
                  <c:pt idx="1">
                    <c:v>Solution 2
CS Program</c:v>
                  </c:pt>
                  <c:pt idx="2">
                    <c:v>Combined
All 3</c:v>
                  </c:pt>
                  <c:pt idx="3">
                    <c:v>Solution 1
Early Warning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3400</c:v>
                </c:pt>
                <c:pt idx="1">
                  <c:v>1775</c:v>
                </c:pt>
                <c:pt idx="2">
                  <c:v>3445</c:v>
                </c:pt>
                <c:pt idx="3">
                  <c:v>7281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92608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NexaCloud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Customer Retention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Strategy Report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</a:rPr>
              <a:t>Reducing Customer Churn &amp; Maximizing Revenue Retention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429000"/>
            <a:ext cx="19202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29000"/>
            <a:ext cx="192024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93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8.2%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Monthly Churn Rate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3429000"/>
            <a:ext cx="19202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3429000"/>
            <a:ext cx="192024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3493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$12.2M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06040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Annual Revenue at Risk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3429000"/>
            <a:ext cx="19202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3429000"/>
            <a:ext cx="192024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493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3,445%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Projected ROI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3429000"/>
            <a:ext cx="192024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3429000"/>
            <a:ext cx="19202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493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$166K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Total Investment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Prepared by Muhammad Intesam · Business &amp; Data Analyst · June 2026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TOOLS: Python · SQL · Power BI · XGBoost · Excel · BPMN · Salesforce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TABLE OF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NexaCloud Customer Retention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Strategy Report ·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83280" y="3108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5669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Problem, findings, recommendations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0" y="896112"/>
            <a:ext cx="5303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987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969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Business Understanding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2435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Company background, KPIs, objectives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0" y="1572768"/>
            <a:ext cx="5303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920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EDA, churn drivers, XGBoost 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0" y="2249424"/>
            <a:ext cx="5303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3408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Financial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596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Cost of churn, LTV, ROI modeling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0" y="2926080"/>
            <a:ext cx="5303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Solution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273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 targeted retention solutions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0" y="3602736"/>
            <a:ext cx="5303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694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Implementation Roadmap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950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12-month phased delivery plan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4279392"/>
            <a:ext cx="5303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4370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Power BI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46268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Executive, CS &amp; financial views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The problem, key findings, and recommended solutions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1737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73152" cy="1737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THE PROBLEM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618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20700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NexaCloud's monthly churn rate of 8.2% is nearly double the SaaS industry benchmark of 3–5%. With ARR of $12.4M, the business loses $1,016,800 in MRR every month — essentially pouring water into a leaking bucket.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26280" y="914400"/>
            <a:ext cx="4343400" cy="1737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914400"/>
            <a:ext cx="73152" cy="1737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9"/>
          <p:cNvSpPr/>
          <p:nvPr/>
        </p:nvSpPr>
        <p:spPr>
          <a:xfrm>
            <a:off x="4681728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THE SOLUTION (3 INTERVENTIONS)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81728" y="1298448"/>
            <a:ext cx="201168" cy="201168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4" name="Text 11"/>
          <p:cNvSpPr/>
          <p:nvPr/>
        </p:nvSpPr>
        <p:spPr>
          <a:xfrm>
            <a:off x="4681728" y="1298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56048" y="12801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Early Warning Churn Alert System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56048" y="1499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$42K · ROI: 7,281%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81728" y="1719072"/>
            <a:ext cx="201168" cy="201168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8" name="Text 15"/>
          <p:cNvSpPr/>
          <p:nvPr/>
        </p:nvSpPr>
        <p:spPr>
          <a:xfrm>
            <a:off x="4681728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956048" y="1700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Structured CS Program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56048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$96K/yr · ROI: 1,775%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81728" y="2139696"/>
            <a:ext cx="201168" cy="201168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2" name="Text 19"/>
          <p:cNvSpPr/>
          <p:nvPr/>
        </p:nvSpPr>
        <p:spPr>
          <a:xfrm>
            <a:off x="4681728" y="2139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56048" y="21214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Onboarding Experience Redesign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956048" y="23408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$28K · ROI: 3,400%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2834640"/>
            <a:ext cx="16002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" y="2880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$1,016,800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7432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Monthly MRR Lost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011680" y="2834640"/>
            <a:ext cx="16002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9" name="Text 26"/>
          <p:cNvSpPr/>
          <p:nvPr/>
        </p:nvSpPr>
        <p:spPr>
          <a:xfrm>
            <a:off x="2011680" y="2880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$166,000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01168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Total Investment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749040" y="2834640"/>
            <a:ext cx="16002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2" name="Text 29"/>
          <p:cNvSpPr/>
          <p:nvPr/>
        </p:nvSpPr>
        <p:spPr>
          <a:xfrm>
            <a:off x="3749040" y="2880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$5.88M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74904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Annual Savings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486400" y="2834640"/>
            <a:ext cx="16002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0" y="2880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 days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48640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Payback Period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223760" y="2834640"/>
            <a:ext cx="16002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8" name="Text 35"/>
          <p:cNvSpPr/>
          <p:nvPr/>
        </p:nvSpPr>
        <p:spPr>
          <a:xfrm>
            <a:off x="7223760" y="2880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3,445%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22376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ROI (Year 1)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74320" y="38862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C2626"/>
                </a:solidFill>
              </a:rPr>
              <a:t>Every day without action costs NexaCloud $33,893 in lost revenue.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Understanding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Company profile &amp; industry benchmarks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840480" cy="3566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F"/>
                </a:solidFill>
              </a:rPr>
              <a:t>COMPANY PROFILE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Company: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1732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NexaCloud Inc.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4747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Founded: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173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2019 · Austin, TX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34747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Product: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1732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Project Mgmt &amp; Collaboration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86584"/>
            <a:ext cx="34747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78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ARR: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17320" y="2478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$12,400,000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779776"/>
            <a:ext cx="34747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871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Accounts: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17320" y="28712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8,500 active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172968"/>
            <a:ext cx="34747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64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Employees: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1732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142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566160"/>
            <a:ext cx="34747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Funding: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173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Series 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3959352"/>
            <a:ext cx="34747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050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Target: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41732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Mid-size (10–500 employees)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43400" y="914400"/>
            <a:ext cx="4526280" cy="3566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987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F"/>
                </a:solidFill>
              </a:rPr>
              <a:t>INDUSTRY BENCHMARKS vs. NEXACLOUD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056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Monthly Churn Rate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1298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3–5%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316736"/>
            <a:ext cx="10058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13167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8.2%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80560" y="1636776"/>
            <a:ext cx="42062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4480560" y="1746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Annual Churn Rate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37960" y="1746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5–7%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06640" y="1764792"/>
            <a:ext cx="10058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17647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63.7%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80560" y="2084832"/>
            <a:ext cx="42062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40"/>
          <p:cNvSpPr/>
          <p:nvPr/>
        </p:nvSpPr>
        <p:spPr>
          <a:xfrm>
            <a:off x="44805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Customer LTV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37960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24–36 months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2212848"/>
            <a:ext cx="10058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7406640" y="2212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9.3 months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80560" y="2532888"/>
            <a:ext cx="42062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0" y="2642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Net Revenue Retention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37960" y="2642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&gt;100%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406640" y="2660904"/>
            <a:ext cx="1005840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7406640" y="26609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87%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2980944"/>
            <a:ext cx="42062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Text 50"/>
          <p:cNvSpPr/>
          <p:nvPr/>
        </p:nvSpPr>
        <p:spPr>
          <a:xfrm>
            <a:off x="448056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CAC Payback Period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3796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&lt;12 months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06640" y="3108960"/>
            <a:ext cx="1005840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7406640" y="3108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18.4 months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80560" y="3429000"/>
            <a:ext cx="42062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7" name="Text 55"/>
          <p:cNvSpPr/>
          <p:nvPr/>
        </p:nvSpPr>
        <p:spPr>
          <a:xfrm>
            <a:off x="448056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Feature Adoption Rate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37960" y="3538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&gt;60%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06640" y="3557016"/>
            <a:ext cx="10058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0" name="Text 58"/>
          <p:cNvSpPr/>
          <p:nvPr/>
        </p:nvSpPr>
        <p:spPr>
          <a:xfrm>
            <a:off x="7406640" y="3557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27%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480560" y="3877056"/>
            <a:ext cx="42062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2" name="Text 60"/>
          <p:cNvSpPr/>
          <p:nvPr/>
        </p:nvSpPr>
        <p:spPr>
          <a:xfrm>
            <a:off x="4480560" y="3986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Onboarding Completion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37960" y="3986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&gt;80%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406640" y="4005072"/>
            <a:ext cx="10058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5" name="Text 63"/>
          <p:cNvSpPr/>
          <p:nvPr/>
        </p:nvSpPr>
        <p:spPr>
          <a:xfrm>
            <a:off x="7406640" y="4005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41%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Analysis — Churn by Segment &amp; Contract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Who churns most, and why contract type is critical</a:t>
            </a:r>
            <a:endParaRPr lang="en-US" sz="9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86868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85616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8" name="Text 4"/>
          <p:cNvSpPr/>
          <p:nvPr/>
        </p:nvSpPr>
        <p:spPr>
          <a:xfrm>
            <a:off x="521208" y="37307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Small Business accounts for 61% of all churn despite lowest CS attention.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74320" y="4197096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0" name="Text 6"/>
          <p:cNvSpPr/>
          <p:nvPr/>
        </p:nvSpPr>
        <p:spPr>
          <a:xfrm>
            <a:off x="521208" y="4142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Monthly customers churn at 65.7% vs 46.1% for annual — 1.4× higher risk.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74320" y="4608576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2" name="Text 8"/>
          <p:cNvSpPr/>
          <p:nvPr/>
        </p:nvSpPr>
        <p:spPr>
          <a:xfrm>
            <a:off x="521208" y="45537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Converting just 20% of monthly accounts to annual saves $1.74M/year.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Analysis — Onboarding &amp; Feature Adoption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The two strongest predictors of churn</a:t>
            </a:r>
            <a:endParaRPr lang="en-US" sz="9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86868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291840"/>
            <a:ext cx="8595360" cy="12801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4"/>
          <p:cNvSpPr/>
          <p:nvPr/>
        </p:nvSpPr>
        <p:spPr>
          <a:xfrm>
            <a:off x="274320" y="3291840"/>
            <a:ext cx="73152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3355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F"/>
                </a:solidFill>
              </a:rPr>
              <a:t>⚡ THE ACTIVATION TRIFECTA EFFECT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57200" y="3639312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Customers who complete 3 core actions in their first 3 days (Create Project + Invite Team + Connect Integration) churn at less than 2% — versus the 8.2% average. The product team already knows this. The solution is to guide every customer to that experience.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Predictive Model — XGBoost Churn Classifier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81.2% accuracy · AUC 0.879 · 8,500 account dataset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92024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81.2%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0.879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AUC-ROC Score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91440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914400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764024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~78%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18304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Precision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91440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91440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0296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~76%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94576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Recall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377440"/>
          <a:ext cx="8595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Financial Analysis — True Cost of Churn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Beyond lost MRR: the full economic impact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029200" cy="2743200"/>
        </p:xfrm>
        <a:graphic>
          <a:graphicData uri="http://schemas.openxmlformats.org/drawingml/2006/table">
            <a:tbl>
              <a:tblPr/>
              <a:tblGrid>
                <a:gridCol w="265176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 Component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Monthly 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Annual 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MRR Lost to Churn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$1,016,800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$12,201,600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CAC to Replace Churned Customers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$179,826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$2,157,912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CS Team Time on Cancellations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$47,048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$564,573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Onboarding Cost (Failed Customers)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$90,270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$1,083,240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TRUE COST OF CHURN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$1,333,944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$16,007,325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914400"/>
            <a:ext cx="3337560" cy="13258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Shape 4"/>
          <p:cNvSpPr/>
          <p:nvPr/>
        </p:nvSpPr>
        <p:spPr>
          <a:xfrm>
            <a:off x="5532120" y="914400"/>
            <a:ext cx="73152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960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Daily Cost of Inaction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0" y="1234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$33,893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669280" y="1874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lost every single day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32120" y="2377440"/>
            <a:ext cx="3337560" cy="12801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532120" y="2377440"/>
            <a:ext cx="73152" cy="1280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LTV Impact of Churn Reduction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6928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Current (8.2%):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543800" y="27432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$1,777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66928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Year 1 (4.1%):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543800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$3,554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Year 2 (2.8%):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54380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$5,205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74320" y="3794760"/>
            <a:ext cx="8595360" cy="59436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8221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 TRUE annual cost of churn is $16.0M — not $12.2M. This makes the $166,000 solution investment one of the most compelling opportunities available to NexaCloud.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Financial Analysis — Scenario Modeling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Do Nothing vs Partial Fix vs Full Implementation</a:t>
            </a:r>
            <a:endParaRPr lang="en-US" sz="9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68680"/>
          <a:ext cx="310896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Scenario 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Scenario B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Scenario C 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Churn Rate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8.2%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5.0%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4.1% → 2.8%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Annual MRR Lost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$12.2M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$7.4M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$6.1M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Annual MRR Saved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$4.77M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$6.11M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Investment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$96,000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$166,000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Net Annual Benefit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–$12.2M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+$4.67M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+$5.95M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ROI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4,868%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3,682%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Payback Period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 days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11 days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Series B Ready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APPROACHING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411480" y="43251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B5F"/>
                </a:solidFill>
              </a:rPr>
              <a:t>Sensitivity check: Even at only 10% of projected impact, Scenario C still delivers a 368% ROI. There is no scenario where this investment does not pay back.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Solution Design — Three Targeted Interventions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Addressing root causes with measurable ROI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3931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241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0241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Early Warning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Churn Alert System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103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PROBLEM: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657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Zero visibility into at-risk accounts until after cancellation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5760" y="28163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SOLUTION: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65760" y="29992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ML-powered XGBoost model scores all 8,500 accounts weekly. Automated CS alerts triggered 72 hours before predicted churn.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4320" y="3657600"/>
            <a:ext cx="283464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$3,100,000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20040" y="4206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Annual Savings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20040" y="4407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ROI: 7,281%  |  Payback: 5 days  |  Invest: $42,000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246120" y="914400"/>
            <a:ext cx="2834640" cy="39319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0" name="Shape 17"/>
          <p:cNvSpPr/>
          <p:nvPr/>
        </p:nvSpPr>
        <p:spPr>
          <a:xfrm>
            <a:off x="3246120" y="914400"/>
            <a:ext cx="28346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8"/>
          <p:cNvSpPr/>
          <p:nvPr/>
        </p:nvSpPr>
        <p:spPr>
          <a:xfrm>
            <a:off x="3383280" y="102412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28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24128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33756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Structured Customer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Success Program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337560" y="2103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PROBLEM: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33375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74% of accounts receive zero proactive CS engagement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337560" y="28163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SOLUTION: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337560" y="29992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30/60/90-day touchpoint framework for all accounts. 4-option tiered intervention playbook. 2 new CS reps hired.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3246120" y="3657600"/>
            <a:ext cx="283464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6"/>
          <p:cNvSpPr/>
          <p:nvPr/>
        </p:nvSpPr>
        <p:spPr>
          <a:xfrm>
            <a:off x="329184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$1,800,000</a:t>
            </a:r>
            <a:endParaRPr lang="en-US" sz="1700" dirty="0"/>
          </a:p>
        </p:txBody>
      </p:sp>
      <p:sp>
        <p:nvSpPr>
          <p:cNvPr id="31" name="Text 27"/>
          <p:cNvSpPr/>
          <p:nvPr/>
        </p:nvSpPr>
        <p:spPr>
          <a:xfrm>
            <a:off x="3291840" y="4206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Annual Savings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291840" y="4407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ROI: 1,775%  |  Payback: 19 days  |  Invest: $96,000/yr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6217920" y="914400"/>
            <a:ext cx="2834640" cy="3931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4" name="Shape 30"/>
          <p:cNvSpPr/>
          <p:nvPr/>
        </p:nvSpPr>
        <p:spPr>
          <a:xfrm>
            <a:off x="6217920" y="914400"/>
            <a:ext cx="2834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1"/>
          <p:cNvSpPr/>
          <p:nvPr/>
        </p:nvSpPr>
        <p:spPr>
          <a:xfrm>
            <a:off x="6355080" y="102412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2"/>
          <p:cNvSpPr/>
          <p:nvPr/>
        </p:nvSpPr>
        <p:spPr>
          <a:xfrm>
            <a:off x="635508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24128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30936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Onboarding Experience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Redesign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309360" y="2103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PROBLEM: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63093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59% of customers never complete onboarding — 14-day time-to-value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309360" y="28163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SOLUTION: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6309360" y="29992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Interactive guided tour driving Activation Trifecta in &lt;20 mins. Re-engagement emails for incomplete onboarding at 48 hours.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6217920" y="3657600"/>
            <a:ext cx="2834640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Text 39"/>
          <p:cNvSpPr/>
          <p:nvPr/>
        </p:nvSpPr>
        <p:spPr>
          <a:xfrm>
            <a:off x="626364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$980,000</a:t>
            </a:r>
            <a:endParaRPr lang="en-US" sz="1700" dirty="0"/>
          </a:p>
        </p:txBody>
      </p:sp>
      <p:sp>
        <p:nvSpPr>
          <p:cNvPr id="45" name="Text 40"/>
          <p:cNvSpPr/>
          <p:nvPr/>
        </p:nvSpPr>
        <p:spPr>
          <a:xfrm>
            <a:off x="6263640" y="4206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Annual Savings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6263640" y="4407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ROI: 3,400%  |  Payback: 10 days  |  Invest: $28,000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Process Design — As-Is vs To-Be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Transforming the customer journey from reactive to proactive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645920" cy="3200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DIMENSION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65960" y="914400"/>
            <a:ext cx="329184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❌  AS-IS (Current State)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49240" y="914400"/>
            <a:ext cx="352044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914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✅  TO-BE (Future State)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1645920" cy="5029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261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5F"/>
                </a:solidFill>
              </a:rPr>
              <a:t>Onboarding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65960" y="1261872"/>
            <a:ext cx="3291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1289304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Passive checklist · 14-day time-to-value · 59% dropout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49240" y="1261872"/>
            <a:ext cx="3520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289304"/>
            <a:ext cx="3337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Interactive guided tour · 3-day time-to-value · 80% target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1645920" cy="5029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922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5F"/>
                </a:solidFill>
              </a:rPr>
              <a:t>CS Coverage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65960" y="1792224"/>
            <a:ext cx="3291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181965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Reactive · 26% of accounts touched · No outreach plan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49240" y="1792224"/>
            <a:ext cx="3520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819656"/>
            <a:ext cx="3337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Proactive · 100% accounts · 30/60/90-day schedule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322576"/>
            <a:ext cx="1645920" cy="5029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3225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5F"/>
                </a:solidFill>
              </a:rPr>
              <a:t>Churn Detection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65960" y="2322576"/>
            <a:ext cx="3291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057400" y="2350008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Post-cancellation discovery · No early warning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49240" y="2322576"/>
            <a:ext cx="3520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2350008"/>
            <a:ext cx="3337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72-hour predictive alert · Weekly risk scoring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852928"/>
            <a:ext cx="1645920" cy="5029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8529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5F"/>
                </a:solidFill>
              </a:rPr>
              <a:t>Data Utilization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965960" y="2852928"/>
            <a:ext cx="3291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2057400" y="2880360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Amplitude data siloed in product team only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49240" y="2852928"/>
            <a:ext cx="3520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2880360"/>
            <a:ext cx="3337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Behavioral data feeds CS dashboard &amp; churn model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383280"/>
            <a:ext cx="1645920" cy="5029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5F"/>
                </a:solidFill>
              </a:rPr>
              <a:t>Intervention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65960" y="3383280"/>
            <a:ext cx="3291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057400" y="3410712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 save attempt before cancellation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49240" y="3383280"/>
            <a:ext cx="3520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410712"/>
            <a:ext cx="3337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4-option tiered CS playbook triggered by risk score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913632"/>
            <a:ext cx="1645920" cy="5029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913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5F"/>
                </a:solidFill>
              </a:rPr>
              <a:t>Executive Reporting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965960" y="3913632"/>
            <a:ext cx="3291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2057400" y="3941064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Manual monthly reports · Slow &amp; unreliable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49240" y="3913632"/>
            <a:ext cx="35204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440680" y="3941064"/>
            <a:ext cx="3337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Real-time automated Power BI KPI dashboard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443984"/>
            <a:ext cx="1645920" cy="50292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4439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5F"/>
                </a:solidFill>
              </a:rPr>
              <a:t>Win-Back Program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965960" y="4443984"/>
            <a:ext cx="3291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057400" y="447141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Ad-hoc, untracked outreach after churn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49240" y="4443984"/>
            <a:ext cx="3520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40680" y="4471416"/>
            <a:ext cx="3337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Structured win-back sequence with outcome tracking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Roadmap — 12-Month Phased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Foundation → Activation → Optimization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Month 0–3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83464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54480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17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Hire 2 CS reps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CS touchpoints live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Data pipeline build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Onboarding design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914400"/>
            <a:ext cx="283464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Activation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2618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Month 3–6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463040"/>
            <a:ext cx="283464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155448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1517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Early Warning System live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1975104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Onboarding tour live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2395728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Full CS coverage (100%)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2816352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Mid-point review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914400"/>
            <a:ext cx="283464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Optimization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2618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Month 6–12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1463040"/>
            <a:ext cx="283464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155448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1517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Model retraining cycles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1975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Contract conversion campaign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239572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Win-back program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28163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Series B preparation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3383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F"/>
                </a:solidFill>
              </a:rPr>
              <a:t>KEY MILESTONES &amp; TARGETS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57600"/>
          <a:ext cx="8595360" cy="128016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4023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Date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 Target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CS Program Live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Month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100% Enterprise accounts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Early Warning System Live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Month 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All 8,500 accounts scored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Onboarding Tour Live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Month 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All new signups guided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Mid-Point Review (Churn ≤4.1%)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Month 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MRR saved: $220,000/mo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NRR Positive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Month 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NRR ≥ 100%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Year-End Review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Month 12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Churn ≤2.8% · NRR ≥110%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 Dashboard — Three-Page Retention Intelligence Suite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Executive KPI · CS Risk Operations · CFO Financial Impact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50292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32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33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Executive KPI 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5F"/>
                </a:solidFill>
              </a:rPr>
              <a:t>Audience: CEO · 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Key KPI Cards: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109728" cy="109728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9385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Monthly Churn Rate: 8.2% → 4.1%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450592"/>
            <a:ext cx="109728" cy="109728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Monthly MRR Lost: $1,016,800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2916936"/>
            <a:ext cx="109728" cy="109728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8712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NRR: 87% → &gt;100%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109728" cy="109728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3375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Customer LTV: $1,777 → $3,554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91440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914400"/>
            <a:ext cx="28346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932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1133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Churn Risk Dashboard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Audience: CS Head · CS Team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Key KPI Cards: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83280" y="1984248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547872" y="19385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636 High-Risk Accounts (act today)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83280" y="245059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3547872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629 Medium-Risk (48hr email)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2916936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3547872" y="28712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2K Low-Risk (monitor)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83280" y="338328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3547872" y="33375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$1.4M Annual MRR at High Risk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0" y="91440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914400"/>
            <a:ext cx="28346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932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1133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Financial Impact Dashboard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Audience: CFO · CEO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09360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Key KPI Cards: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55080" y="198424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6519672" y="19385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$7M Annual Revenue Lost to Churn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55080" y="2450592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6519672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$18K Daily Cost of Inaction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55080" y="2916936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6519672" y="28712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$166K Total Investment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55080" y="3383280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519672" y="33375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3 Scenario Comparison View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445312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Dashboard Features: Interactive segment/contract/risk slicers · Traffic light status indicators · Real-time KPI refresh · Board-ready export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ROI Summary — The Financial Case for 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All three solutions individually exceed 1,000% ROI</a:t>
            </a:r>
            <a:endParaRPr lang="en-US" sz="9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868680"/>
            <a:ext cx="333756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32120" y="868680"/>
            <a:ext cx="73152" cy="10241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9052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F"/>
                </a:solidFill>
              </a:rPr>
              <a:t>Solution 1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5F"/>
                </a:solidFill>
              </a:rPr>
              <a:t>Early Warning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589520" y="9235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ROI: 7,281%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Invest: $42,000  |  Saves: $3,100,000  |  Payback: 5 days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532120" y="1984248"/>
            <a:ext cx="333756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32120" y="1984248"/>
            <a:ext cx="73152" cy="10241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0208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F"/>
                </a:solidFill>
              </a:rPr>
              <a:t>Solution 2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5F"/>
                </a:solidFill>
              </a:rPr>
              <a:t>CS Program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ROI: 1,775%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Invest: $96,000/yr  |  Saves: $1,800,000  |  Payback: 19 days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32120" y="3099816"/>
            <a:ext cx="333756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32120" y="3099816"/>
            <a:ext cx="73152" cy="10241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0" y="3136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F"/>
                </a:solidFill>
              </a:rPr>
              <a:t>Solution 3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5F"/>
                </a:solidFill>
              </a:rPr>
              <a:t>Onboarding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8952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ROI: 3,400%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602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Invest: $28,000  |  Saves: $980,000  |  Payback: 10 days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2" name="Text 19"/>
          <p:cNvSpPr/>
          <p:nvPr/>
        </p:nvSpPr>
        <p:spPr>
          <a:xfrm>
            <a:off x="411480" y="41879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COMBINED INVESTMENT: $166,000  |  COMBINED ANNUAL SAVINGS: $5,880,000  |  ROI: 3,445%  |  PAYBACK: 11 DAYS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ADCFC"/>
                </a:solidFill>
              </a:rPr>
              <a:t>THE RECOMMENDATION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Implement All Three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Solutions — Now.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116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Reduce churn from 8.2% to 4.1% within 6 months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61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Recover $5.88M in annual recurring revenue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45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127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Deliver 3,445% ROI on a $166,000 investment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5112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Achieve NRR &gt; 100% — unlocking Series B fundraising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8953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Double customer LTV from $1,777 to $3,554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2286000"/>
            <a:ext cx="2743200" cy="2468880"/>
          </a:xfrm>
          <a:prstGeom prst="rect">
            <a:avLst/>
          </a:prstGeom>
          <a:solidFill>
            <a:srgbClr val="DC2626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INACTION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$33,893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 day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</a:rPr>
              <a:t>$232,000 per week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</a:rPr>
              <a:t>$1M+ per month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Prepared by Muhammad Intesam · Business &amp; Data Analyst · June 2026  |  NexaCloud Inc. — Customer Retention Strategy Report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NexaCloud — Customer Retention Strategy Report</dc:title>
  <dc:subject>PptxGenJS Presentation</dc:subject>
  <dc:creator>Muhammad Intesam</dc:creator>
  <cp:lastModifiedBy>Muhammad Intesam</cp:lastModifiedBy>
  <cp:revision>1</cp:revision>
  <dcterms:created xsi:type="dcterms:W3CDTF">2026-06-08T08:38:25Z</dcterms:created>
  <dcterms:modified xsi:type="dcterms:W3CDTF">2026-06-08T08:38:25Z</dcterms:modified>
</cp:coreProperties>
</file>